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7" r:id="rId2"/>
  </p:sldIdLst>
  <p:sldSz cx="30243463" cy="39604950"/>
  <p:notesSz cx="6858000" cy="9144000"/>
  <p:embeddedFontLst>
    <p:embeddedFont>
      <p:font typeface="Arial Black" panose="020B0A04020102020204" pitchFamily="3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474">
          <p15:clr>
            <a:srgbClr val="A4A3A4"/>
          </p15:clr>
        </p15:guide>
        <p15:guide id="2" pos="95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54" y="-3888"/>
      </p:cViewPr>
      <p:guideLst>
        <p:guide orient="horz" pos="12474"/>
        <p:guide pos="95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51075" y="1143000"/>
            <a:ext cx="23558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230EBB4-2336-1678-352B-370EF60B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0D5018AC-861F-E68A-B799-666206931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51075" y="1143000"/>
            <a:ext cx="23558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9EEE3502-F541-6697-44A7-1B1938B03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A22CB36F-35EE-6909-D84B-DD2E283042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058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2079238" y="2108606"/>
            <a:ext cx="26084987" cy="76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2079238" y="10542984"/>
            <a:ext cx="26084987" cy="2512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2268260" y="6481646"/>
            <a:ext cx="25706944" cy="1378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45"/>
              <a:buFont typeface="Calibri"/>
              <a:buNone/>
              <a:defRPr sz="1984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780433" y="20801769"/>
            <a:ext cx="22682597" cy="9562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7938"/>
              <a:buNone/>
              <a:defRPr sz="7937"/>
            </a:lvl1pPr>
            <a:lvl2pPr lvl="1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None/>
              <a:defRPr sz="6615"/>
            </a:lvl2pPr>
            <a:lvl3pPr lvl="2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None/>
              <a:defRPr sz="5954"/>
            </a:lvl3pPr>
            <a:lvl4pPr lvl="3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/>
            </a:lvl4pPr>
            <a:lvl5pPr lvl="4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/>
            </a:lvl5pPr>
            <a:lvl6pPr lvl="5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/>
            </a:lvl6pPr>
            <a:lvl7pPr lvl="6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/>
            </a:lvl7pPr>
            <a:lvl8pPr lvl="7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/>
            </a:lvl8pPr>
            <a:lvl9pPr lvl="8" algn="ctr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063488" y="9873746"/>
            <a:ext cx="26084987" cy="16474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45"/>
              <a:buFont typeface="Calibri"/>
              <a:buNone/>
              <a:defRPr sz="1984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063488" y="26504157"/>
            <a:ext cx="26084987" cy="8663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7938"/>
              <a:buNone/>
              <a:defRPr sz="7937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888888"/>
              </a:buClr>
              <a:buSzPts val="6615"/>
              <a:buNone/>
              <a:defRPr sz="661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888888"/>
              </a:buClr>
              <a:buSzPts val="5954"/>
              <a:buNone/>
              <a:defRPr sz="5954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888888"/>
              </a:buClr>
              <a:buSzPts val="5292"/>
              <a:buNone/>
              <a:defRPr sz="5292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888888"/>
              </a:buClr>
              <a:buSzPts val="5292"/>
              <a:buNone/>
              <a:defRPr sz="5292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888888"/>
              </a:buClr>
              <a:buSzPts val="5292"/>
              <a:buNone/>
              <a:defRPr sz="5292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888888"/>
              </a:buClr>
              <a:buSzPts val="5292"/>
              <a:buNone/>
              <a:defRPr sz="5292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888888"/>
              </a:buClr>
              <a:buSzPts val="5292"/>
              <a:buNone/>
              <a:defRPr sz="5292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rgbClr val="888888"/>
              </a:buClr>
              <a:buSzPts val="5292"/>
              <a:buNone/>
              <a:defRPr sz="529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2079238" y="2108606"/>
            <a:ext cx="26084987" cy="76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2079238" y="10542984"/>
            <a:ext cx="12853472" cy="2512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15310753" y="10542984"/>
            <a:ext cx="12853472" cy="2512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2083177" y="2108606"/>
            <a:ext cx="26084987" cy="76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2083181" y="9708716"/>
            <a:ext cx="12794400" cy="47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7938"/>
              <a:buNone/>
              <a:defRPr sz="7937" b="1"/>
            </a:lvl1pPr>
            <a:lvl2pPr marL="914400" lvl="1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None/>
              <a:defRPr sz="6615" b="1"/>
            </a:lvl2pPr>
            <a:lvl3pPr marL="1371600" lvl="2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None/>
              <a:defRPr sz="5954" b="1"/>
            </a:lvl3pPr>
            <a:lvl4pPr marL="1828800" lvl="3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4pPr>
            <a:lvl5pPr marL="2286000" lvl="4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5pPr>
            <a:lvl6pPr marL="2743200" lvl="5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6pPr>
            <a:lvl7pPr marL="3200400" lvl="6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7pPr>
            <a:lvl8pPr marL="3657600" lvl="7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8pPr>
            <a:lvl9pPr marL="4114800" lvl="8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2083181" y="14466808"/>
            <a:ext cx="12794400" cy="2127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15310755" y="9708716"/>
            <a:ext cx="12857411" cy="4758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7938"/>
              <a:buNone/>
              <a:defRPr sz="7937" b="1"/>
            </a:lvl1pPr>
            <a:lvl2pPr marL="914400" lvl="1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None/>
              <a:defRPr sz="6615" b="1"/>
            </a:lvl2pPr>
            <a:lvl3pPr marL="1371600" lvl="2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None/>
              <a:defRPr sz="5954" b="1"/>
            </a:lvl3pPr>
            <a:lvl4pPr marL="1828800" lvl="3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4pPr>
            <a:lvl5pPr marL="2286000" lvl="4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5pPr>
            <a:lvl6pPr marL="2743200" lvl="5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6pPr>
            <a:lvl7pPr marL="3200400" lvl="6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7pPr>
            <a:lvl8pPr marL="3657600" lvl="7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8pPr>
            <a:lvl9pPr marL="4114800" lvl="8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15310755" y="14466808"/>
            <a:ext cx="12857411" cy="2127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079238" y="2108606"/>
            <a:ext cx="26084987" cy="76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083177" y="2640330"/>
            <a:ext cx="9754304" cy="924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84"/>
              <a:buFont typeface="Calibri"/>
              <a:buNone/>
              <a:defRPr sz="1058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12857411" y="5702388"/>
            <a:ext cx="15310753" cy="2814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900684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10584"/>
              <a:buChar char="•"/>
              <a:defRPr sz="10584"/>
            </a:lvl1pPr>
            <a:lvl2pPr marL="914400" lvl="1" indent="-816673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9261"/>
              <a:buChar char="•"/>
              <a:defRPr sz="9261"/>
            </a:lvl2pPr>
            <a:lvl3pPr marL="1371600" lvl="2" indent="-732663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7938"/>
              <a:buChar char="•"/>
              <a:defRPr sz="7937"/>
            </a:lvl3pPr>
            <a:lvl4pPr marL="1828800" lvl="3" indent="-648652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Char char="•"/>
              <a:defRPr sz="6615"/>
            </a:lvl4pPr>
            <a:lvl5pPr marL="2286000" lvl="4" indent="-648652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Char char="•"/>
              <a:defRPr sz="6615"/>
            </a:lvl5pPr>
            <a:lvl6pPr marL="2743200" lvl="5" indent="-648652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Char char="•"/>
              <a:defRPr sz="6615"/>
            </a:lvl6pPr>
            <a:lvl7pPr marL="3200400" lvl="6" indent="-648652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Char char="•"/>
              <a:defRPr sz="6615"/>
            </a:lvl7pPr>
            <a:lvl8pPr marL="3657600" lvl="7" indent="-648652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Char char="•"/>
              <a:defRPr sz="6615"/>
            </a:lvl8pPr>
            <a:lvl9pPr marL="4114800" lvl="8" indent="-648652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Char char="•"/>
              <a:defRPr sz="6615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2083177" y="11881485"/>
            <a:ext cx="9754304" cy="2201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/>
            </a:lvl1pPr>
            <a:lvl2pPr marL="914400" lvl="1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4631"/>
              <a:buNone/>
              <a:defRPr sz="4631"/>
            </a:lvl2pPr>
            <a:lvl3pPr marL="1371600" lvl="2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9"/>
              <a:buNone/>
              <a:defRPr sz="3968"/>
            </a:lvl3pPr>
            <a:lvl4pPr marL="1828800" lvl="3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4pPr>
            <a:lvl5pPr marL="2286000" lvl="4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5pPr>
            <a:lvl6pPr marL="2743200" lvl="5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6pPr>
            <a:lvl7pPr marL="3200400" lvl="6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7pPr>
            <a:lvl8pPr marL="3657600" lvl="7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8pPr>
            <a:lvl9pPr marL="4114800" lvl="8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083177" y="2640330"/>
            <a:ext cx="9754304" cy="924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84"/>
              <a:buFont typeface="Calibri"/>
              <a:buNone/>
              <a:defRPr sz="1058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2857411" y="5702388"/>
            <a:ext cx="15310753" cy="28145184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083177" y="11881485"/>
            <a:ext cx="9754304" cy="2201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5292"/>
              <a:buNone/>
              <a:defRPr sz="5292"/>
            </a:lvl1pPr>
            <a:lvl2pPr marL="914400" lvl="1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4631"/>
              <a:buNone/>
              <a:defRPr sz="4631"/>
            </a:lvl2pPr>
            <a:lvl3pPr marL="1371600" lvl="2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969"/>
              <a:buNone/>
              <a:defRPr sz="3968"/>
            </a:lvl3pPr>
            <a:lvl4pPr marL="1828800" lvl="3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4pPr>
            <a:lvl5pPr marL="2286000" lvl="4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5pPr>
            <a:lvl6pPr marL="2743200" lvl="5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6pPr>
            <a:lvl7pPr marL="3200400" lvl="6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7pPr>
            <a:lvl8pPr marL="3657600" lvl="7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8pPr>
            <a:lvl9pPr marL="4114800" lvl="8" indent="-2286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3308"/>
              <a:buNone/>
              <a:defRPr sz="3308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2079238" y="2108606"/>
            <a:ext cx="26084987" cy="76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557243" y="10064979"/>
            <a:ext cx="25128977" cy="26084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8121922" y="15629656"/>
            <a:ext cx="33563364" cy="652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-5109594" y="9297431"/>
            <a:ext cx="33563364" cy="19185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C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079238" y="2108606"/>
            <a:ext cx="26084987" cy="76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53"/>
              <a:buFont typeface="Calibri"/>
              <a:buNone/>
              <a:defRPr sz="1455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079238" y="10542984"/>
            <a:ext cx="26084987" cy="2512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6673" algn="l" rtl="0">
              <a:lnSpc>
                <a:spcPct val="90000"/>
              </a:lnSpc>
              <a:spcBef>
                <a:spcPts val="3308"/>
              </a:spcBef>
              <a:spcAft>
                <a:spcPts val="0"/>
              </a:spcAft>
              <a:buClr>
                <a:schemeClr val="dk1"/>
              </a:buClr>
              <a:buSzPts val="9261"/>
              <a:buFont typeface="Arial"/>
              <a:buChar char="•"/>
              <a:defRPr sz="926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2663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7938"/>
              <a:buFont typeface="Arial"/>
              <a:buChar char="•"/>
              <a:defRPr sz="793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8652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6615"/>
              <a:buFont typeface="Arial"/>
              <a:buChar char="•"/>
              <a:defRPr sz="66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6679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Font typeface="Arial"/>
              <a:buChar char="•"/>
              <a:defRPr sz="5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6679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Font typeface="Arial"/>
              <a:buChar char="•"/>
              <a:defRPr sz="5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6679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Font typeface="Arial"/>
              <a:buChar char="•"/>
              <a:defRPr sz="5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6679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Font typeface="Arial"/>
              <a:buChar char="•"/>
              <a:defRPr sz="5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6679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Font typeface="Arial"/>
              <a:buChar char="•"/>
              <a:defRPr sz="5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6678" algn="l" rtl="0">
              <a:lnSpc>
                <a:spcPct val="90000"/>
              </a:lnSpc>
              <a:spcBef>
                <a:spcPts val="1654"/>
              </a:spcBef>
              <a:spcAft>
                <a:spcPts val="0"/>
              </a:spcAft>
              <a:buClr>
                <a:schemeClr val="dk1"/>
              </a:buClr>
              <a:buSzPts val="5954"/>
              <a:buFont typeface="Arial"/>
              <a:buChar char="•"/>
              <a:defRPr sz="5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2079238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0018147" y="36707930"/>
            <a:ext cx="1020716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1359446" y="36707930"/>
            <a:ext cx="6804779" cy="21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396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0F0C090F-423F-C69F-224B-5B342E5A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7897E231-4257-1C9F-10DE-57DFC7587BD4}"/>
              </a:ext>
            </a:extLst>
          </p:cNvPr>
          <p:cNvSpPr/>
          <p:nvPr/>
        </p:nvSpPr>
        <p:spPr>
          <a:xfrm>
            <a:off x="288082" y="4864539"/>
            <a:ext cx="9544577" cy="39411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7E75E42F-12E3-4A72-4180-BB1B140839AA}"/>
              </a:ext>
            </a:extLst>
          </p:cNvPr>
          <p:cNvSpPr txBox="1"/>
          <p:nvPr/>
        </p:nvSpPr>
        <p:spPr>
          <a:xfrm>
            <a:off x="317894" y="3515969"/>
            <a:ext cx="9534634" cy="1216152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b="1" u="none" cap="none" dirty="0">
                <a:solidFill>
                  <a:srgbClr val="0C0C0C"/>
                </a:solidFill>
                <a:latin typeface="Arial Black"/>
                <a:ea typeface="Arial Black"/>
                <a:cs typeface="Arial Black"/>
                <a:sym typeface="Arial Black"/>
              </a:rPr>
              <a:t>Abstract</a:t>
            </a:r>
            <a:endParaRPr sz="3400" b="1" u="none" strike="noStrike" cap="none" dirty="0">
              <a:solidFill>
                <a:srgbClr val="0C0C0C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D7DD5E6D-E0D2-66F8-3312-0DAD6239B26D}"/>
              </a:ext>
            </a:extLst>
          </p:cNvPr>
          <p:cNvSpPr/>
          <p:nvPr/>
        </p:nvSpPr>
        <p:spPr>
          <a:xfrm>
            <a:off x="20073790" y="34361620"/>
            <a:ext cx="9837892" cy="502282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C2CA8F41-350A-3FBA-B3D7-CEBF6C7A3EE2}"/>
              </a:ext>
            </a:extLst>
          </p:cNvPr>
          <p:cNvSpPr txBox="1"/>
          <p:nvPr/>
        </p:nvSpPr>
        <p:spPr>
          <a:xfrm>
            <a:off x="20073524" y="32929372"/>
            <a:ext cx="9830826" cy="1216152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rgbClr val="FFFFFF"/>
              </a:buClr>
              <a:buSzPts val="3400"/>
              <a:buNone/>
              <a:defRPr sz="3400" b="1">
                <a:solidFill>
                  <a:srgbClr val="0C0C0C"/>
                </a:solidFill>
                <a:latin typeface="Arial Black"/>
                <a:ea typeface="Arial Black"/>
                <a:cs typeface="Arial Black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Arial Black"/>
              </a:rPr>
              <a:t>References</a:t>
            </a:r>
            <a:endParaRPr dirty="0">
              <a:sym typeface="Arial Black"/>
            </a:endParaRPr>
          </a:p>
        </p:txBody>
      </p:sp>
      <p:sp>
        <p:nvSpPr>
          <p:cNvPr id="96" name="Google Shape;96;p13">
            <a:extLst>
              <a:ext uri="{FF2B5EF4-FFF2-40B4-BE49-F238E27FC236}">
                <a16:creationId xmlns:a16="http://schemas.microsoft.com/office/drawing/2014/main" id="{699F60A3-8A1B-6AE0-F098-F82E6805244B}"/>
              </a:ext>
            </a:extLst>
          </p:cNvPr>
          <p:cNvSpPr/>
          <p:nvPr/>
        </p:nvSpPr>
        <p:spPr>
          <a:xfrm>
            <a:off x="20050559" y="25907047"/>
            <a:ext cx="9868354" cy="674465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47E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>
            <a:extLst>
              <a:ext uri="{FF2B5EF4-FFF2-40B4-BE49-F238E27FC236}">
                <a16:creationId xmlns:a16="http://schemas.microsoft.com/office/drawing/2014/main" id="{C243AADC-1339-602E-592D-0875A73033B6}"/>
              </a:ext>
            </a:extLst>
          </p:cNvPr>
          <p:cNvSpPr txBox="1"/>
          <p:nvPr/>
        </p:nvSpPr>
        <p:spPr>
          <a:xfrm>
            <a:off x="20072300" y="24474800"/>
            <a:ext cx="9835028" cy="1216152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rgbClr val="FFFFFF"/>
              </a:buClr>
              <a:buSzPts val="3400"/>
              <a:buNone/>
              <a:defRPr sz="3400" b="1">
                <a:solidFill>
                  <a:srgbClr val="0C0C0C"/>
                </a:solidFill>
                <a:latin typeface="Arial Black"/>
                <a:ea typeface="Arial Black"/>
                <a:cs typeface="Arial Black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Arial Black"/>
              </a:rPr>
              <a:t>Implications</a:t>
            </a:r>
            <a:endParaRPr dirty="0"/>
          </a:p>
        </p:txBody>
      </p:sp>
      <p:sp>
        <p:nvSpPr>
          <p:cNvPr id="100" name="Google Shape;100;p13">
            <a:extLst>
              <a:ext uri="{FF2B5EF4-FFF2-40B4-BE49-F238E27FC236}">
                <a16:creationId xmlns:a16="http://schemas.microsoft.com/office/drawing/2014/main" id="{7554F79F-B458-471F-0D92-7A423122DBCE}"/>
              </a:ext>
            </a:extLst>
          </p:cNvPr>
          <p:cNvSpPr/>
          <p:nvPr/>
        </p:nvSpPr>
        <p:spPr>
          <a:xfrm>
            <a:off x="20033475" y="12126467"/>
            <a:ext cx="9849000" cy="12052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0B70AD3B-E8F1-89DF-AC2F-7D095258CE00}"/>
              </a:ext>
            </a:extLst>
          </p:cNvPr>
          <p:cNvSpPr txBox="1"/>
          <p:nvPr/>
        </p:nvSpPr>
        <p:spPr>
          <a:xfrm>
            <a:off x="20033450" y="10716406"/>
            <a:ext cx="9870900" cy="1219941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rgbClr val="FFFFFF"/>
              </a:buClr>
              <a:buSzPts val="3400"/>
              <a:buNone/>
              <a:defRPr sz="3400" b="1">
                <a:solidFill>
                  <a:srgbClr val="0C0C0C"/>
                </a:solidFill>
                <a:latin typeface="Arial Black"/>
                <a:ea typeface="Arial Black"/>
                <a:cs typeface="Arial Black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Arial Black"/>
              </a:rPr>
              <a:t>Conclusion</a:t>
            </a:r>
            <a:endParaRPr dirty="0">
              <a:sym typeface="Arial Black"/>
            </a:endParaRPr>
          </a:p>
        </p:txBody>
      </p:sp>
      <p:grpSp>
        <p:nvGrpSpPr>
          <p:cNvPr id="102" name="Google Shape;102;p13">
            <a:extLst>
              <a:ext uri="{FF2B5EF4-FFF2-40B4-BE49-F238E27FC236}">
                <a16:creationId xmlns:a16="http://schemas.microsoft.com/office/drawing/2014/main" id="{AE56BA27-F854-F3E2-4EBB-624A8C69F9B8}"/>
              </a:ext>
            </a:extLst>
          </p:cNvPr>
          <p:cNvGrpSpPr/>
          <p:nvPr/>
        </p:nvGrpSpPr>
        <p:grpSpPr>
          <a:xfrm>
            <a:off x="9997497" y="4137380"/>
            <a:ext cx="19884978" cy="6348862"/>
            <a:chOff x="9936480" y="4104726"/>
            <a:chExt cx="19948814" cy="3148804"/>
          </a:xfrm>
          <a:solidFill>
            <a:schemeClr val="bg1"/>
          </a:solidFill>
        </p:grpSpPr>
        <p:sp>
          <p:nvSpPr>
            <p:cNvPr id="103" name="Google Shape;103;p13">
              <a:extLst>
                <a:ext uri="{FF2B5EF4-FFF2-40B4-BE49-F238E27FC236}">
                  <a16:creationId xmlns:a16="http://schemas.microsoft.com/office/drawing/2014/main" id="{CCA09B03-CF8D-6220-CC55-500D748F490E}"/>
                </a:ext>
              </a:extLst>
            </p:cNvPr>
            <p:cNvSpPr/>
            <p:nvPr/>
          </p:nvSpPr>
          <p:spPr>
            <a:xfrm>
              <a:off x="9936480" y="4104730"/>
              <a:ext cx="19941300" cy="3148800"/>
            </a:xfrm>
            <a:prstGeom prst="rect">
              <a:avLst/>
            </a:prstGeom>
            <a:grpFill/>
            <a:ln w="12700" cap="flat" cmpd="sng">
              <a:solidFill>
                <a:srgbClr val="147E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3">
              <a:extLst>
                <a:ext uri="{FF2B5EF4-FFF2-40B4-BE49-F238E27FC236}">
                  <a16:creationId xmlns:a16="http://schemas.microsoft.com/office/drawing/2014/main" id="{FF0AC69E-DF25-D541-1C5F-7C24CAB882CF}"/>
                </a:ext>
              </a:extLst>
            </p:cNvPr>
            <p:cNvSpPr txBox="1"/>
            <p:nvPr/>
          </p:nvSpPr>
          <p:spPr>
            <a:xfrm>
              <a:off x="9943994" y="4104726"/>
              <a:ext cx="19941300" cy="6222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365750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400"/>
                <a:buFont typeface="Arial"/>
                <a:buNone/>
              </a:pPr>
              <a:r>
                <a:rPr lang="en-US" sz="3400" b="1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Block Diagram / Flow Chart / Use Case / </a:t>
              </a:r>
              <a:r>
                <a:rPr lang="en-US" sz="3400" b="1" dirty="0" err="1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etc</a:t>
              </a:r>
              <a:r>
                <a:rPr lang="en-US" sz="3400" b="1" dirty="0">
                  <a:solidFill>
                    <a:schemeClr val="dk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…</a:t>
              </a:r>
              <a:endParaRPr sz="3400" b="1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105" name="Google Shape;105;p13">
              <a:extLst>
                <a:ext uri="{FF2B5EF4-FFF2-40B4-BE49-F238E27FC236}">
                  <a16:creationId xmlns:a16="http://schemas.microsoft.com/office/drawing/2014/main" id="{48AC66D2-3CB8-D358-9DC6-7BE7913C52E8}"/>
                </a:ext>
              </a:extLst>
            </p:cNvPr>
            <p:cNvSpPr txBox="1"/>
            <p:nvPr/>
          </p:nvSpPr>
          <p:spPr>
            <a:xfrm>
              <a:off x="10299493" y="4961123"/>
              <a:ext cx="19186500" cy="151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13">
            <a:extLst>
              <a:ext uri="{FF2B5EF4-FFF2-40B4-BE49-F238E27FC236}">
                <a16:creationId xmlns:a16="http://schemas.microsoft.com/office/drawing/2014/main" id="{36BD5BFB-5309-87E8-7E83-C6DA44E71746}"/>
              </a:ext>
            </a:extLst>
          </p:cNvPr>
          <p:cNvGrpSpPr/>
          <p:nvPr/>
        </p:nvGrpSpPr>
        <p:grpSpPr>
          <a:xfrm>
            <a:off x="282361" y="10352283"/>
            <a:ext cx="9500400" cy="4331739"/>
            <a:chOff x="258500" y="9090418"/>
            <a:chExt cx="9500400" cy="5721438"/>
          </a:xfrm>
        </p:grpSpPr>
        <p:sp>
          <p:nvSpPr>
            <p:cNvPr id="112" name="Google Shape;112;p13">
              <a:extLst>
                <a:ext uri="{FF2B5EF4-FFF2-40B4-BE49-F238E27FC236}">
                  <a16:creationId xmlns:a16="http://schemas.microsoft.com/office/drawing/2014/main" id="{53483BE7-F5F0-4E85-68C3-5C7AD23DA25F}"/>
                </a:ext>
              </a:extLst>
            </p:cNvPr>
            <p:cNvSpPr/>
            <p:nvPr/>
          </p:nvSpPr>
          <p:spPr>
            <a:xfrm>
              <a:off x="258500" y="9090418"/>
              <a:ext cx="9500400" cy="572143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147EA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3">
              <a:extLst>
                <a:ext uri="{FF2B5EF4-FFF2-40B4-BE49-F238E27FC236}">
                  <a16:creationId xmlns:a16="http://schemas.microsoft.com/office/drawing/2014/main" id="{DF80C6CE-5174-65B7-AF46-F27D14D81CF5}"/>
                </a:ext>
              </a:extLst>
            </p:cNvPr>
            <p:cNvSpPr txBox="1"/>
            <p:nvPr/>
          </p:nvSpPr>
          <p:spPr>
            <a:xfrm>
              <a:off x="585789" y="9931344"/>
              <a:ext cx="8815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>
              <a:extLst>
                <a:ext uri="{FF2B5EF4-FFF2-40B4-BE49-F238E27FC236}">
                  <a16:creationId xmlns:a16="http://schemas.microsoft.com/office/drawing/2014/main" id="{9C6D6AD5-C255-6823-89BC-EF84B0CF01C1}"/>
                </a:ext>
              </a:extLst>
            </p:cNvPr>
            <p:cNvSpPr txBox="1"/>
            <p:nvPr/>
          </p:nvSpPr>
          <p:spPr>
            <a:xfrm>
              <a:off x="585789" y="13603752"/>
              <a:ext cx="88152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3">
            <a:extLst>
              <a:ext uri="{FF2B5EF4-FFF2-40B4-BE49-F238E27FC236}">
                <a16:creationId xmlns:a16="http://schemas.microsoft.com/office/drawing/2014/main" id="{ADB8481A-8B04-AE6F-64F9-9DB8214757F4}"/>
              </a:ext>
            </a:extLst>
          </p:cNvPr>
          <p:cNvSpPr txBox="1"/>
          <p:nvPr/>
        </p:nvSpPr>
        <p:spPr>
          <a:xfrm>
            <a:off x="312425" y="8928142"/>
            <a:ext cx="9500400" cy="1216152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FFFFFF"/>
              </a:buClr>
              <a:buSzPts val="3400"/>
              <a:buNone/>
              <a:defRPr sz="3400" b="1">
                <a:solidFill>
                  <a:srgbClr val="0C0C0C"/>
                </a:solidFill>
                <a:latin typeface="Arial Black"/>
                <a:ea typeface="Arial Black"/>
                <a:cs typeface="Arial Black"/>
              </a:defRPr>
            </a:lvl1pPr>
          </a:lstStyle>
          <a:p>
            <a:r>
              <a:rPr lang="en-US">
                <a:sym typeface="Arial Black"/>
              </a:rPr>
              <a:t>Introduction</a:t>
            </a:r>
            <a:endParaRPr>
              <a:sym typeface="Arial Black"/>
            </a:endParaRPr>
          </a:p>
        </p:txBody>
      </p:sp>
      <p:sp>
        <p:nvSpPr>
          <p:cNvPr id="117" name="Google Shape;117;p13">
            <a:extLst>
              <a:ext uri="{FF2B5EF4-FFF2-40B4-BE49-F238E27FC236}">
                <a16:creationId xmlns:a16="http://schemas.microsoft.com/office/drawing/2014/main" id="{029BC5D5-0E39-DB2C-8ED0-30A09FDD09CD}"/>
              </a:ext>
            </a:extLst>
          </p:cNvPr>
          <p:cNvSpPr/>
          <p:nvPr/>
        </p:nvSpPr>
        <p:spPr>
          <a:xfrm>
            <a:off x="317894" y="24493525"/>
            <a:ext cx="9490599" cy="148934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TABLE I: FPGA Design Utilization Summary</a:t>
            </a: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>
            <a:extLst>
              <a:ext uri="{FF2B5EF4-FFF2-40B4-BE49-F238E27FC236}">
                <a16:creationId xmlns:a16="http://schemas.microsoft.com/office/drawing/2014/main" id="{747A5235-FF08-9624-7BC4-CBC997D925C3}"/>
              </a:ext>
            </a:extLst>
          </p:cNvPr>
          <p:cNvSpPr txBox="1"/>
          <p:nvPr/>
        </p:nvSpPr>
        <p:spPr>
          <a:xfrm>
            <a:off x="307919" y="22962738"/>
            <a:ext cx="9524740" cy="1216152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rgbClr val="FFFFFF"/>
              </a:buClr>
              <a:buSzPts val="3400"/>
              <a:buNone/>
              <a:defRPr sz="3400" b="1">
                <a:solidFill>
                  <a:srgbClr val="0C0C0C"/>
                </a:solidFill>
                <a:latin typeface="Arial Black"/>
                <a:ea typeface="Arial Black"/>
                <a:cs typeface="Arial Black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>
              <a:sym typeface="Arial Black"/>
            </a:endParaRPr>
          </a:p>
          <a:p>
            <a:r>
              <a:rPr lang="en-US" dirty="0">
                <a:sym typeface="Arial Black"/>
              </a:rPr>
              <a:t>Methodology</a:t>
            </a:r>
            <a:endParaRPr dirty="0">
              <a:sym typeface="Arial Black"/>
            </a:endParaRPr>
          </a:p>
          <a:p>
            <a:endParaRPr dirty="0">
              <a:sym typeface="Arial Black"/>
            </a:endParaRPr>
          </a:p>
        </p:txBody>
      </p:sp>
      <p:sp>
        <p:nvSpPr>
          <p:cNvPr id="120" name="Google Shape;120;p13">
            <a:extLst>
              <a:ext uri="{FF2B5EF4-FFF2-40B4-BE49-F238E27FC236}">
                <a16:creationId xmlns:a16="http://schemas.microsoft.com/office/drawing/2014/main" id="{485035C7-E78E-F249-AABE-AB25DD3F5D1F}"/>
              </a:ext>
            </a:extLst>
          </p:cNvPr>
          <p:cNvSpPr/>
          <p:nvPr/>
        </p:nvSpPr>
        <p:spPr>
          <a:xfrm>
            <a:off x="10045594" y="12182932"/>
            <a:ext cx="9822333" cy="105216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>
            <a:extLst>
              <a:ext uri="{FF2B5EF4-FFF2-40B4-BE49-F238E27FC236}">
                <a16:creationId xmlns:a16="http://schemas.microsoft.com/office/drawing/2014/main" id="{79E0DFB1-18D6-3B15-7BA4-BFF449D90FF1}"/>
              </a:ext>
            </a:extLst>
          </p:cNvPr>
          <p:cNvSpPr txBox="1"/>
          <p:nvPr/>
        </p:nvSpPr>
        <p:spPr>
          <a:xfrm>
            <a:off x="10006871" y="10726511"/>
            <a:ext cx="9861056" cy="1216152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rgbClr val="FFFFFF"/>
              </a:buClr>
              <a:buSzPts val="3400"/>
              <a:buNone/>
              <a:defRPr sz="3400" b="1">
                <a:solidFill>
                  <a:srgbClr val="0C0C0C"/>
                </a:solidFill>
                <a:latin typeface="Arial Black"/>
                <a:ea typeface="Arial Black"/>
                <a:cs typeface="Arial Black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Arial Black"/>
              </a:rPr>
              <a:t>[Methodology sub header]</a:t>
            </a:r>
          </a:p>
        </p:txBody>
      </p:sp>
      <p:sp>
        <p:nvSpPr>
          <p:cNvPr id="123" name="Google Shape;123;p13">
            <a:extLst>
              <a:ext uri="{FF2B5EF4-FFF2-40B4-BE49-F238E27FC236}">
                <a16:creationId xmlns:a16="http://schemas.microsoft.com/office/drawing/2014/main" id="{3ED4AD0F-C56E-1823-C392-C7FEA3439B2E}"/>
              </a:ext>
            </a:extLst>
          </p:cNvPr>
          <p:cNvSpPr/>
          <p:nvPr/>
        </p:nvSpPr>
        <p:spPr>
          <a:xfrm>
            <a:off x="10062300" y="24493525"/>
            <a:ext cx="9787983" cy="1489363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FPGA</a:t>
            </a:r>
            <a:endParaRPr dirty="0"/>
          </a:p>
        </p:txBody>
      </p:sp>
      <p:sp>
        <p:nvSpPr>
          <p:cNvPr id="124" name="Google Shape;124;p13">
            <a:extLst>
              <a:ext uri="{FF2B5EF4-FFF2-40B4-BE49-F238E27FC236}">
                <a16:creationId xmlns:a16="http://schemas.microsoft.com/office/drawing/2014/main" id="{789F117D-ABE4-44B8-BF38-147F0AD6DC49}"/>
              </a:ext>
            </a:extLst>
          </p:cNvPr>
          <p:cNvSpPr txBox="1"/>
          <p:nvPr/>
        </p:nvSpPr>
        <p:spPr>
          <a:xfrm>
            <a:off x="10003666" y="22962738"/>
            <a:ext cx="9846617" cy="1216152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rgbClr val="FFFFFF"/>
              </a:buClr>
              <a:buSzPts val="3400"/>
              <a:buNone/>
              <a:defRPr sz="3400" b="1">
                <a:solidFill>
                  <a:srgbClr val="0C0C0C"/>
                </a:solidFill>
                <a:latin typeface="Arial Black"/>
                <a:ea typeface="Arial Black"/>
                <a:cs typeface="Arial Black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Arial Black"/>
              </a:rPr>
              <a:t>Results</a:t>
            </a:r>
            <a:endParaRPr dirty="0">
              <a:sym typeface="Arial Black"/>
            </a:endParaRPr>
          </a:p>
        </p:txBody>
      </p:sp>
      <p:sp>
        <p:nvSpPr>
          <p:cNvPr id="125" name="Google Shape;125;p13">
            <a:extLst>
              <a:ext uri="{FF2B5EF4-FFF2-40B4-BE49-F238E27FC236}">
                <a16:creationId xmlns:a16="http://schemas.microsoft.com/office/drawing/2014/main" id="{31811769-868A-ABD6-576E-4A8CBE9ED1D3}"/>
              </a:ext>
            </a:extLst>
          </p:cNvPr>
          <p:cNvSpPr txBox="1"/>
          <p:nvPr/>
        </p:nvSpPr>
        <p:spPr>
          <a:xfrm>
            <a:off x="10252320" y="30604513"/>
            <a:ext cx="9361688" cy="307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076DDA-C6AE-1DA8-FA52-9C12366EBBED}"/>
              </a:ext>
            </a:extLst>
          </p:cNvPr>
          <p:cNvGrpSpPr/>
          <p:nvPr/>
        </p:nvGrpSpPr>
        <p:grpSpPr>
          <a:xfrm>
            <a:off x="-66955" y="-4176189"/>
            <a:ext cx="30310364" cy="11893039"/>
            <a:chOff x="-66955" y="-4176189"/>
            <a:chExt cx="30310364" cy="11893039"/>
          </a:xfrm>
        </p:grpSpPr>
        <p:sp>
          <p:nvSpPr>
            <p:cNvPr id="90" name="Google Shape;90;p13">
              <a:extLst>
                <a:ext uri="{FF2B5EF4-FFF2-40B4-BE49-F238E27FC236}">
                  <a16:creationId xmlns:a16="http://schemas.microsoft.com/office/drawing/2014/main" id="{45AF1A9F-9F93-2225-D242-1A4A1811FEF9}"/>
                </a:ext>
              </a:extLst>
            </p:cNvPr>
            <p:cNvSpPr txBox="1"/>
            <p:nvPr/>
          </p:nvSpPr>
          <p:spPr>
            <a:xfrm>
              <a:off x="-66955" y="193882"/>
              <a:ext cx="30091321" cy="3665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99125" tIns="199550" rIns="399125" bIns="1995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Arial"/>
                <a:buNone/>
              </a:pPr>
              <a:r>
                <a:rPr lang="en-US" sz="4500" dirty="0">
                  <a:solidFill>
                    <a:schemeClr val="lt1"/>
                  </a:solidFill>
                </a:rPr>
                <a:t>AI Driven Beat Analysis</a:t>
              </a:r>
              <a:br>
                <a:rPr lang="en-US" sz="4500" b="1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4400" b="1" dirty="0">
                  <a:solidFill>
                    <a:srgbClr val="FFCF21"/>
                  </a:solidFill>
                </a:rPr>
                <a:t>Youssef Abbas</a:t>
              </a:r>
              <a:endParaRPr lang="en-US"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CF21"/>
                </a:buClr>
                <a:buSzPts val="4400"/>
                <a:buFont typeface="Arial"/>
                <a:buNone/>
              </a:pPr>
              <a:r>
                <a:rPr lang="en-US" sz="4400" b="1" dirty="0">
                  <a:solidFill>
                    <a:srgbClr val="FFCF21"/>
                  </a:solidFill>
                </a:rPr>
                <a:t>Dr. Amir El-</a:t>
              </a:r>
              <a:r>
                <a:rPr lang="en-US" sz="4400" b="1" dirty="0" err="1">
                  <a:solidFill>
                    <a:srgbClr val="FFCF21"/>
                  </a:solidFill>
                </a:rPr>
                <a:t>Ghamry</a:t>
              </a:r>
              <a:br>
                <a:rPr lang="en-US" sz="3600" b="1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3200" b="1" u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BSc Computer Science</a:t>
              </a:r>
            </a:p>
          </p:txBody>
        </p:sp>
        <p:pic>
          <p:nvPicPr>
            <p:cNvPr id="126" name="Google Shape;126;p13" descr="A black background with white text&#10;&#10;Description automatically generated">
              <a:extLst>
                <a:ext uri="{FF2B5EF4-FFF2-40B4-BE49-F238E27FC236}">
                  <a16:creationId xmlns:a16="http://schemas.microsoft.com/office/drawing/2014/main" id="{36100362-CB44-05A5-A6FE-B77488EEBA7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984850" y="-4176189"/>
              <a:ext cx="8258559" cy="11893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3">
              <a:extLst>
                <a:ext uri="{FF2B5EF4-FFF2-40B4-BE49-F238E27FC236}">
                  <a16:creationId xmlns:a16="http://schemas.microsoft.com/office/drawing/2014/main" id="{D0EDE356-B32E-4CA3-5B3F-69F8A24A35B3}"/>
                </a:ext>
              </a:extLst>
            </p:cNvPr>
            <p:cNvSpPr txBox="1"/>
            <p:nvPr/>
          </p:nvSpPr>
          <p:spPr>
            <a:xfrm>
              <a:off x="468057" y="1152403"/>
              <a:ext cx="8258560" cy="2076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1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dirty="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SCHOOL OF ENGINEERING &amp; COMPUTER SCIENCE</a:t>
              </a:r>
              <a:endParaRPr sz="5000" b="1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130" name="Google Shape;130;p13">
            <a:extLst>
              <a:ext uri="{FF2B5EF4-FFF2-40B4-BE49-F238E27FC236}">
                <a16:creationId xmlns:a16="http://schemas.microsoft.com/office/drawing/2014/main" id="{01B4AE0D-5CC2-51AE-0C8B-8E1DA4FCD9FA}"/>
              </a:ext>
            </a:extLst>
          </p:cNvPr>
          <p:cNvSpPr txBox="1"/>
          <p:nvPr/>
        </p:nvSpPr>
        <p:spPr>
          <a:xfrm>
            <a:off x="5044646" y="18775271"/>
            <a:ext cx="4075948" cy="70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Fractional Filter 2</a:t>
            </a:r>
            <a:endParaRPr/>
          </a:p>
        </p:txBody>
      </p:sp>
      <p:sp>
        <p:nvSpPr>
          <p:cNvPr id="131" name="Google Shape;131;p13">
            <a:extLst>
              <a:ext uri="{FF2B5EF4-FFF2-40B4-BE49-F238E27FC236}">
                <a16:creationId xmlns:a16="http://schemas.microsoft.com/office/drawing/2014/main" id="{1AB5E76E-8B53-76DD-EE17-44090EC59AC8}"/>
              </a:ext>
            </a:extLst>
          </p:cNvPr>
          <p:cNvSpPr txBox="1"/>
          <p:nvPr/>
        </p:nvSpPr>
        <p:spPr>
          <a:xfrm>
            <a:off x="666277" y="18799179"/>
            <a:ext cx="4075948" cy="70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Fractional Filter 1</a:t>
            </a:r>
            <a:endParaRPr/>
          </a:p>
        </p:txBody>
      </p:sp>
      <p:sp>
        <p:nvSpPr>
          <p:cNvPr id="134" name="Google Shape;134;p13">
            <a:extLst>
              <a:ext uri="{FF2B5EF4-FFF2-40B4-BE49-F238E27FC236}">
                <a16:creationId xmlns:a16="http://schemas.microsoft.com/office/drawing/2014/main" id="{ABFD78F0-A61F-79EB-3424-3B2FC7BB447B}"/>
              </a:ext>
            </a:extLst>
          </p:cNvPr>
          <p:cNvSpPr txBox="1"/>
          <p:nvPr/>
        </p:nvSpPr>
        <p:spPr>
          <a:xfrm>
            <a:off x="279484" y="4834715"/>
            <a:ext cx="9544577" cy="568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tx1"/>
                </a:solidFill>
                <a:highlight>
                  <a:srgbClr val="FFFFFF"/>
                </a:highlight>
              </a:rPr>
              <a:t>Purpose:</a:t>
            </a: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 To develop an AI-driven tool that shows real-time exploits of audio effects cooperating with a chatbot which provides genre-based production recommendations.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tx1"/>
                </a:solidFill>
                <a:highlight>
                  <a:srgbClr val="FFFFFF"/>
                </a:highlight>
              </a:rPr>
              <a:t>Methods: </a:t>
            </a: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Employ machine learning models, audio processing libraries such as Librosa and </a:t>
            </a:r>
            <a:r>
              <a:rPr lang="en-US" sz="2500" dirty="0" err="1">
                <a:solidFill>
                  <a:schemeClr val="tx1"/>
                </a:solidFill>
                <a:highlight>
                  <a:srgbClr val="FFFFFF"/>
                </a:highlight>
              </a:rPr>
              <a:t>PyDub</a:t>
            </a: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, and a GPT powered chatbot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tx1"/>
                </a:solidFill>
                <a:highlight>
                  <a:srgbClr val="FFFFFF"/>
                </a:highlight>
              </a:rPr>
              <a:t>Results: </a:t>
            </a: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Successful implementation on the user-friendly chatbot which applies basic audio effects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tx1"/>
                </a:solidFill>
                <a:highlight>
                  <a:srgbClr val="FFFFFF"/>
                </a:highlight>
              </a:rPr>
              <a:t>Conclusions: </a:t>
            </a: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The tool successfully interprets commands and applies audio effects, with future work concentrating on robust libraries</a:t>
            </a:r>
          </a:p>
        </p:txBody>
      </p:sp>
      <p:sp>
        <p:nvSpPr>
          <p:cNvPr id="135" name="Google Shape;135;p13">
            <a:extLst>
              <a:ext uri="{FF2B5EF4-FFF2-40B4-BE49-F238E27FC236}">
                <a16:creationId xmlns:a16="http://schemas.microsoft.com/office/drawing/2014/main" id="{D1329D16-CE4E-9783-654D-644BB70B41E8}"/>
              </a:ext>
            </a:extLst>
          </p:cNvPr>
          <p:cNvSpPr txBox="1"/>
          <p:nvPr/>
        </p:nvSpPr>
        <p:spPr>
          <a:xfrm>
            <a:off x="439732" y="10498404"/>
            <a:ext cx="9178499" cy="408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Background: </a:t>
            </a:r>
            <a:r>
              <a:rPr lang="en-US" sz="2500" dirty="0"/>
              <a:t>The growth of AI in music production and the want of instinctive tools for manipulating audio effects in real-time.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Motivation: </a:t>
            </a:r>
            <a:r>
              <a:rPr lang="en-US" sz="2500" dirty="0"/>
              <a:t>To create a tool which assists producers and musicians in enhancing their music productions by exploiting AI for genre planning and tips on designing sounds.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>
            <a:extLst>
              <a:ext uri="{FF2B5EF4-FFF2-40B4-BE49-F238E27FC236}">
                <a16:creationId xmlns:a16="http://schemas.microsoft.com/office/drawing/2014/main" id="{9E453E53-21EB-F7AC-2059-5601F57E10DD}"/>
              </a:ext>
            </a:extLst>
          </p:cNvPr>
          <p:cNvSpPr txBox="1"/>
          <p:nvPr/>
        </p:nvSpPr>
        <p:spPr>
          <a:xfrm>
            <a:off x="20072300" y="12315348"/>
            <a:ext cx="9662200" cy="11863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2500" b="1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en-US" b="0" dirty="0"/>
              <a:t>The AI-Driven beat analysis tool successfully understood the commands and related audio effects shown in real-time. It produced genre-based production tips to enhance audio and showed user-friendly for exploiting the audio effects. Not only achieved approximately 75% of the accuracy in command recognitions but also minimized optimal delay to around 200ms for best performance.</a:t>
            </a:r>
          </a:p>
          <a:p>
            <a:endParaRPr lang="en-US" b="0" dirty="0"/>
          </a:p>
          <a:p>
            <a:r>
              <a:rPr lang="en-US" b="0" dirty="0"/>
              <a:t>Future work:</a:t>
            </a:r>
          </a:p>
          <a:p>
            <a:endParaRPr lang="en-US" b="0" dirty="0"/>
          </a:p>
          <a:p>
            <a:r>
              <a:rPr lang="en-US" b="0" dirty="0"/>
              <a:t>Explore more precise and robust libraries such as </a:t>
            </a:r>
            <a:r>
              <a:rPr lang="en-US" b="0" dirty="0" err="1"/>
              <a:t>PedalBoard</a:t>
            </a:r>
            <a:r>
              <a:rPr lang="en-US" b="0" dirty="0"/>
              <a:t> or Sox for better audio processing. Apply cloud-based audio engines to handle much larger datasets and more complex tasks. Develop tempo detection and AI voice separation. Finally, implement a user’s feedback for more for continuously improving the tool’s response and accuracy . </a:t>
            </a:r>
            <a:br>
              <a:rPr lang="en-US" dirty="0"/>
            </a:br>
            <a:endParaRPr dirty="0">
              <a:sym typeface="Calibri"/>
            </a:endParaRPr>
          </a:p>
        </p:txBody>
      </p:sp>
      <p:sp>
        <p:nvSpPr>
          <p:cNvPr id="137" name="Google Shape;137;p13">
            <a:extLst>
              <a:ext uri="{FF2B5EF4-FFF2-40B4-BE49-F238E27FC236}">
                <a16:creationId xmlns:a16="http://schemas.microsoft.com/office/drawing/2014/main" id="{388B3EE0-B580-5C50-0DC3-C43F8F7A5775}"/>
              </a:ext>
            </a:extLst>
          </p:cNvPr>
          <p:cNvSpPr txBox="1"/>
          <p:nvPr/>
        </p:nvSpPr>
        <p:spPr>
          <a:xfrm>
            <a:off x="11418175" y="5776050"/>
            <a:ext cx="16836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39" name="Google Shape;139;p13">
            <a:extLst>
              <a:ext uri="{FF2B5EF4-FFF2-40B4-BE49-F238E27FC236}">
                <a16:creationId xmlns:a16="http://schemas.microsoft.com/office/drawing/2014/main" id="{B9BAC04D-7ADA-FAA7-449E-F55CD2D8AD23}"/>
              </a:ext>
            </a:extLst>
          </p:cNvPr>
          <p:cNvSpPr txBox="1"/>
          <p:nvPr/>
        </p:nvSpPr>
        <p:spPr>
          <a:xfrm>
            <a:off x="465456" y="24819412"/>
            <a:ext cx="9100578" cy="1444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2200" b="1"/>
            </a:lvl1pPr>
          </a:lstStyle>
          <a:p>
            <a:r>
              <a:rPr lang="en-US" sz="2500" dirty="0"/>
              <a:t>Data Collection: </a:t>
            </a:r>
            <a:r>
              <a:rPr lang="en-US" sz="2500" b="0" dirty="0"/>
              <a:t>GTZAN (Music Genre Classification)</a:t>
            </a:r>
            <a:endParaRPr lang="en-US" sz="2500" dirty="0"/>
          </a:p>
          <a:p>
            <a:r>
              <a:rPr lang="en-US" sz="2500" dirty="0"/>
              <a:t>Data Pre-processing: </a:t>
            </a:r>
            <a:r>
              <a:rPr lang="en-US" sz="2500" b="0" dirty="0"/>
              <a:t>Segmentation: sliced into 30 second clips. Normalization: Audio files normalized to ensure amplitude levels. Conversion: MP3 converted to WAV for saving files and for better compatibility. Noise Reduction: Basic techniques applied for optimal quality.</a:t>
            </a:r>
            <a:endParaRPr lang="en-US" sz="2500" dirty="0"/>
          </a:p>
          <a:p>
            <a:r>
              <a:rPr lang="en-US" sz="2500" dirty="0"/>
              <a:t>Methods Used: </a:t>
            </a:r>
            <a:r>
              <a:rPr lang="en-US" sz="2500" b="0" dirty="0"/>
              <a:t>Feature Extraction: Librosa used for extracting tempo, vocals, and rhythm. Machine learning models: Scikit learn and </a:t>
            </a:r>
            <a:r>
              <a:rPr lang="en-US" sz="2500" b="0" dirty="0" err="1"/>
              <a:t>Tensorflow</a:t>
            </a:r>
            <a:r>
              <a:rPr lang="en-US" sz="2500" b="0" dirty="0"/>
              <a:t> for audio effect manipulation and for genre predictions. Chatbot: A basic GPT 3.5 powered chatbot integrated for real time audio exploits.</a:t>
            </a:r>
          </a:p>
          <a:p>
            <a:r>
              <a:rPr lang="en-US" sz="2500" dirty="0"/>
              <a:t>Steps Taken: </a:t>
            </a:r>
            <a:r>
              <a:rPr lang="en-US" sz="2500" b="0" dirty="0"/>
              <a:t>Data loading: Loaded audio files from GTZAN. Preprocessing: Normalized, segmented, and converted audio files for saving progress. Model training: Trained and cooperated model using </a:t>
            </a:r>
            <a:r>
              <a:rPr lang="en-US" sz="2500" b="0" dirty="0" err="1"/>
              <a:t>Tensorflow</a:t>
            </a:r>
            <a:r>
              <a:rPr lang="en-US" sz="2500" b="0" dirty="0"/>
              <a:t> and Scikit-learn. Feature extractions: Extracted all features using Librosa. Chatbot integration: created a chatbot interface using GPT 3.5. Effect Application: Implemented functions such as EQ, reverb, shift, pitching, etc. Testing and verifying: Measured response time, output quality, and command accuracy</a:t>
            </a:r>
          </a:p>
          <a:p>
            <a:r>
              <a:rPr lang="en-US" sz="2500" dirty="0"/>
              <a:t>Tools Employed:</a:t>
            </a:r>
            <a:r>
              <a:rPr lang="en-US" sz="2500" b="0" dirty="0"/>
              <a:t> Python libraries (Librosa, </a:t>
            </a:r>
            <a:r>
              <a:rPr lang="en-US" sz="2500" b="0" dirty="0" err="1"/>
              <a:t>PyDub,SoundDevice</a:t>
            </a:r>
            <a:r>
              <a:rPr lang="en-US" sz="2500" b="0" dirty="0"/>
              <a:t>, TensorFlow, Scikit-learn), GPT 3.5, </a:t>
            </a:r>
            <a:r>
              <a:rPr lang="en-US" sz="2500" b="0" dirty="0" err="1"/>
              <a:t>Spleeter</a:t>
            </a:r>
            <a:r>
              <a:rPr lang="en-US" sz="2500" b="0" dirty="0"/>
              <a:t> which is a stem separator for drums, vocals, bass, and other instruments.</a:t>
            </a:r>
          </a:p>
          <a:p>
            <a:r>
              <a:rPr lang="en-US" sz="2500" dirty="0"/>
              <a:t>Analysis Methods</a:t>
            </a:r>
            <a:r>
              <a:rPr lang="en-US" sz="2500" b="0" dirty="0"/>
              <a:t>: Genre prediction: Machine learning to predict the genre depending on the feature. Effect exploit: Applied multiple audio effects using Librosa and </a:t>
            </a:r>
            <a:r>
              <a:rPr lang="en-US" sz="2500" b="0" dirty="0" err="1"/>
              <a:t>PyDub</a:t>
            </a:r>
            <a:r>
              <a:rPr lang="en-US" sz="2500" b="0" dirty="0"/>
              <a:t>. Performance Metrics: Measured response accuracy and </a:t>
            </a:r>
            <a:r>
              <a:rPr lang="en-US" sz="2500" b="0" dirty="0" err="1"/>
              <a:t>and</a:t>
            </a:r>
            <a:r>
              <a:rPr lang="en-US" sz="2500" b="0" dirty="0"/>
              <a:t> time of the chatbot’s interface. Visualization: Created spectrograms, waveforms, chromographs to analyze sounds and effects.</a:t>
            </a:r>
          </a:p>
        </p:txBody>
      </p:sp>
      <p:sp>
        <p:nvSpPr>
          <p:cNvPr id="142" name="Google Shape;142;p13">
            <a:extLst>
              <a:ext uri="{FF2B5EF4-FFF2-40B4-BE49-F238E27FC236}">
                <a16:creationId xmlns:a16="http://schemas.microsoft.com/office/drawing/2014/main" id="{A1764C70-5F9B-97D8-D80A-8B3AF6E5F13E}"/>
              </a:ext>
            </a:extLst>
          </p:cNvPr>
          <p:cNvSpPr txBox="1"/>
          <p:nvPr/>
        </p:nvSpPr>
        <p:spPr>
          <a:xfrm>
            <a:off x="9365783" y="19290888"/>
            <a:ext cx="1917504" cy="172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/>
          </a:p>
        </p:txBody>
      </p:sp>
      <p:sp>
        <p:nvSpPr>
          <p:cNvPr id="144" name="Google Shape;144;p13">
            <a:extLst>
              <a:ext uri="{FF2B5EF4-FFF2-40B4-BE49-F238E27FC236}">
                <a16:creationId xmlns:a16="http://schemas.microsoft.com/office/drawing/2014/main" id="{42ABC49C-DCA8-4F20-774D-8414767A3E75}"/>
              </a:ext>
            </a:extLst>
          </p:cNvPr>
          <p:cNvSpPr txBox="1"/>
          <p:nvPr/>
        </p:nvSpPr>
        <p:spPr>
          <a:xfrm>
            <a:off x="20273100" y="26231987"/>
            <a:ext cx="9461400" cy="6094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The AI-drive beat analysis showed numerous advancements in the dominion of music, production, especially in audio exploits. It includes: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AI integration: By incorporating tempo detection and AI voice separation, this tool showed more evolvements such as separating components of music such as vocals, bass, drums, and instruments.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Scalability: enabling the tool to rely on much larger datasets and more difficult audio tasks, providing smoother performance and quality.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Educational Potential &amp; Real Time Collaboration: provided opportunities such as interactive learning and collaborations between producers and musicians can share work on the same platform, can provide as an educational item </a:t>
            </a:r>
            <a:r>
              <a:rPr lang="en-US" sz="2500">
                <a:solidFill>
                  <a:schemeClr val="tx1"/>
                </a:solidFill>
                <a:highlight>
                  <a:srgbClr val="FFFFFF"/>
                </a:highlight>
              </a:rPr>
              <a:t>which provides </a:t>
            </a:r>
            <a:r>
              <a:rPr lang="en-US" sz="2500" dirty="0">
                <a:solidFill>
                  <a:schemeClr val="tx1"/>
                </a:solidFill>
                <a:highlight>
                  <a:srgbClr val="FFFFFF"/>
                </a:highlight>
              </a:rPr>
              <a:t>guidance and additional sound designs and techniques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500" dirty="0">
              <a:solidFill>
                <a:schemeClr val="tx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500" dirty="0">
              <a:solidFill>
                <a:schemeClr val="tx1"/>
              </a:solidFill>
              <a:highlight>
                <a:srgbClr val="FFFFFF"/>
              </a:highlight>
            </a:endParaRPr>
          </a:p>
        </p:txBody>
      </p:sp>
      <p:sp>
        <p:nvSpPr>
          <p:cNvPr id="132" name="Google Shape;132;p13">
            <a:extLst>
              <a:ext uri="{FF2B5EF4-FFF2-40B4-BE49-F238E27FC236}">
                <a16:creationId xmlns:a16="http://schemas.microsoft.com/office/drawing/2014/main" id="{695122CA-F377-C2F2-F654-EC036820070C}"/>
              </a:ext>
            </a:extLst>
          </p:cNvPr>
          <p:cNvSpPr/>
          <p:nvPr/>
        </p:nvSpPr>
        <p:spPr>
          <a:xfrm>
            <a:off x="298025" y="16373923"/>
            <a:ext cx="9524740" cy="625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9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>
            <a:extLst>
              <a:ext uri="{FF2B5EF4-FFF2-40B4-BE49-F238E27FC236}">
                <a16:creationId xmlns:a16="http://schemas.microsoft.com/office/drawing/2014/main" id="{EC6697B3-FFEF-3EA7-8FE5-331A45C67E81}"/>
              </a:ext>
            </a:extLst>
          </p:cNvPr>
          <p:cNvSpPr txBox="1"/>
          <p:nvPr/>
        </p:nvSpPr>
        <p:spPr>
          <a:xfrm>
            <a:off x="294379" y="14939947"/>
            <a:ext cx="9500533" cy="1216152"/>
          </a:xfrm>
          <a:prstGeom prst="rect">
            <a:avLst/>
          </a:prstGeom>
          <a:gradFill>
            <a:gsLst>
              <a:gs pos="0">
                <a:srgbClr val="FF9900"/>
              </a:gs>
              <a:gs pos="100000">
                <a:srgbClr val="FFFF00"/>
              </a:gs>
            </a:gsLst>
          </a:gradFill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spcFirstLastPara="1" wrap="square" lIns="365750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buClr>
                <a:srgbClr val="FFFFFF"/>
              </a:buClr>
              <a:buSzPts val="3400"/>
              <a:buNone/>
              <a:defRPr sz="3400" b="1">
                <a:solidFill>
                  <a:srgbClr val="0C0C0C"/>
                </a:solidFill>
                <a:latin typeface="Arial Black"/>
                <a:ea typeface="Arial Black"/>
                <a:cs typeface="Arial Black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ym typeface="Arial Black"/>
              </a:rPr>
              <a:t>Objectives </a:t>
            </a:r>
            <a:endParaRPr dirty="0">
              <a:sym typeface="Arial Black"/>
            </a:endParaRPr>
          </a:p>
        </p:txBody>
      </p:sp>
      <p:sp>
        <p:nvSpPr>
          <p:cNvPr id="146" name="Google Shape;146;p13">
            <a:extLst>
              <a:ext uri="{FF2B5EF4-FFF2-40B4-BE49-F238E27FC236}">
                <a16:creationId xmlns:a16="http://schemas.microsoft.com/office/drawing/2014/main" id="{315AB1E6-BF3F-AF18-229C-EF565E89FCB9}"/>
              </a:ext>
            </a:extLst>
          </p:cNvPr>
          <p:cNvSpPr txBox="1"/>
          <p:nvPr/>
        </p:nvSpPr>
        <p:spPr>
          <a:xfrm>
            <a:off x="461092" y="16609634"/>
            <a:ext cx="9192675" cy="56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Objective 1: </a:t>
            </a:r>
            <a:r>
              <a:rPr lang="en-US" sz="2500" dirty="0"/>
              <a:t>Developed a user-friendly GPT powered chatbot connection to control audio effects using natural languages.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Objective 2: </a:t>
            </a:r>
            <a:r>
              <a:rPr lang="en-US" sz="2500" dirty="0"/>
              <a:t>Achieved around</a:t>
            </a:r>
            <a:r>
              <a:rPr lang="en-US" sz="3600" b="0" i="0" dirty="0">
                <a:effectLst/>
                <a:latin typeface="-apple-system"/>
              </a:rPr>
              <a:t> </a:t>
            </a:r>
            <a:r>
              <a:rPr lang="en-US" sz="2500" b="0" i="0" dirty="0">
                <a:effectLst/>
                <a:latin typeface="-apple-system"/>
              </a:rPr>
              <a:t>70</a:t>
            </a:r>
            <a:r>
              <a:rPr lang="en-US" sz="2500" dirty="0"/>
              <a:t>% accuracy in command recognition.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Objective 3: </a:t>
            </a:r>
            <a:r>
              <a:rPr lang="en-US" sz="2500" dirty="0"/>
              <a:t>Minimized delay around 200ms for optimal performance.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Objective 4: </a:t>
            </a:r>
            <a:r>
              <a:rPr lang="en-US" sz="2500" dirty="0"/>
              <a:t>Integrated real-time audio manipulations such as reverb, reverse, eq, pitching, loop.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Objective 5: </a:t>
            </a:r>
            <a:r>
              <a:rPr lang="en-US" sz="2500" dirty="0"/>
              <a:t>Execute a user’s feedback mechanism to improve the accuracy and responsiveness of the chatbot</a:t>
            </a:r>
            <a:endParaRPr lang="en-US" sz="2500" b="1" dirty="0"/>
          </a:p>
        </p:txBody>
      </p:sp>
      <p:sp>
        <p:nvSpPr>
          <p:cNvPr id="149" name="Google Shape;149;p13">
            <a:extLst>
              <a:ext uri="{FF2B5EF4-FFF2-40B4-BE49-F238E27FC236}">
                <a16:creationId xmlns:a16="http://schemas.microsoft.com/office/drawing/2014/main" id="{458893F4-52F2-C8B3-F274-5A1A1C83C81F}"/>
              </a:ext>
            </a:extLst>
          </p:cNvPr>
          <p:cNvSpPr txBox="1"/>
          <p:nvPr/>
        </p:nvSpPr>
        <p:spPr>
          <a:xfrm>
            <a:off x="10214220" y="24819412"/>
            <a:ext cx="9392580" cy="1393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500" dirty="0"/>
          </a:p>
        </p:txBody>
      </p:sp>
      <p:sp>
        <p:nvSpPr>
          <p:cNvPr id="150" name="Google Shape;150;p13">
            <a:extLst>
              <a:ext uri="{FF2B5EF4-FFF2-40B4-BE49-F238E27FC236}">
                <a16:creationId xmlns:a16="http://schemas.microsoft.com/office/drawing/2014/main" id="{EF637CCE-8127-F9A5-A0B2-5C590BAC42D6}"/>
              </a:ext>
            </a:extLst>
          </p:cNvPr>
          <p:cNvSpPr txBox="1"/>
          <p:nvPr/>
        </p:nvSpPr>
        <p:spPr>
          <a:xfrm>
            <a:off x="20189175" y="34488253"/>
            <a:ext cx="9537600" cy="4458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GTZAN Dataset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https://www.kaggle.com/datasets/andradaolteanu/gtzan-dataset-music-genre-classification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Deep Learning for Audio – Bengio et al. (April 2019)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https://www.researchgate.net/publication/332799326_Deep_Learning_for_Audio_Signal_Processing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DAFX: Digital Audio Effects – </a:t>
            </a:r>
            <a:r>
              <a:rPr lang="en-US" sz="2500" dirty="0" err="1">
                <a:solidFill>
                  <a:schemeClr val="tx1"/>
                </a:solidFill>
              </a:rPr>
              <a:t>Zölzer</a:t>
            </a:r>
            <a:r>
              <a:rPr lang="en-US" sz="2500" dirty="0">
                <a:solidFill>
                  <a:schemeClr val="tx1"/>
                </a:solidFill>
              </a:rPr>
              <a:t> (2011)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https://dafx.de/DAFX_Book_Page/index.html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 err="1">
                <a:solidFill>
                  <a:schemeClr val="tx1"/>
                </a:solidFill>
              </a:rPr>
              <a:t>MusicGen</a:t>
            </a:r>
            <a:r>
              <a:rPr lang="en-US" sz="2500" dirty="0">
                <a:solidFill>
                  <a:schemeClr val="tx1"/>
                </a:solidFill>
              </a:rPr>
              <a:t> Reimagined: Meta’s Under the Radar Advances in AI Music – Max </a:t>
            </a:r>
            <a:r>
              <a:rPr lang="en-US" sz="2500" dirty="0" err="1">
                <a:solidFill>
                  <a:schemeClr val="tx1"/>
                </a:solidFill>
              </a:rPr>
              <a:t>Hilsdorf</a:t>
            </a:r>
            <a:r>
              <a:rPr lang="en-US" sz="2500" dirty="0">
                <a:solidFill>
                  <a:schemeClr val="tx1"/>
                </a:solidFill>
              </a:rPr>
              <a:t> (November 2023)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tx1"/>
                </a:solidFill>
              </a:rPr>
              <a:t> https://medium.com/data-science/musicgen-reimagined-metas-under-the-radar-advances-in-ai-music-36c1adfd13b7</a:t>
            </a:r>
          </a:p>
        </p:txBody>
      </p:sp>
      <p:pic>
        <p:nvPicPr>
          <p:cNvPr id="1026" name="Picture 2" descr="Fast and Free Music Separation with Deezer's Machine Learning Library -  Waxy.org">
            <a:extLst>
              <a:ext uri="{FF2B5EF4-FFF2-40B4-BE49-F238E27FC236}">
                <a16:creationId xmlns:a16="http://schemas.microsoft.com/office/drawing/2014/main" id="{15B03338-0E4E-F793-B852-87A80AC91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510" y="19284909"/>
            <a:ext cx="2834969" cy="104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- Sound Devices">
            <a:extLst>
              <a:ext uri="{FF2B5EF4-FFF2-40B4-BE49-F238E27FC236}">
                <a16:creationId xmlns:a16="http://schemas.microsoft.com/office/drawing/2014/main" id="{091C5D95-F020-726D-6D5C-5A06FA6B0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0182" y="19430944"/>
            <a:ext cx="3925513" cy="691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Fmpeg">
            <a:extLst>
              <a:ext uri="{FF2B5EF4-FFF2-40B4-BE49-F238E27FC236}">
                <a16:creationId xmlns:a16="http://schemas.microsoft.com/office/drawing/2014/main" id="{D7B5668A-A76B-82EC-C58D-51BFC7B4F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0884" y="19394809"/>
            <a:ext cx="2454792" cy="850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NIPULANDO AUDIOS EN PYTHON, CON ...">
            <a:extLst>
              <a:ext uri="{FF2B5EF4-FFF2-40B4-BE49-F238E27FC236}">
                <a16:creationId xmlns:a16="http://schemas.microsoft.com/office/drawing/2014/main" id="{EEAFD129-31F8-22C5-F14F-B4A0D4C39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9685" y="17908080"/>
            <a:ext cx="30289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logo with a arrow and text&#10;&#10;AI-generated content may be incorrect.">
            <a:extLst>
              <a:ext uri="{FF2B5EF4-FFF2-40B4-BE49-F238E27FC236}">
                <a16:creationId xmlns:a16="http://schemas.microsoft.com/office/drawing/2014/main" id="{810A4637-D8DC-82ED-AFAC-95EEEE7443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2320" y="20734024"/>
            <a:ext cx="5285329" cy="1430742"/>
          </a:xfrm>
          <a:prstGeom prst="rect">
            <a:avLst/>
          </a:prstGeom>
        </p:spPr>
      </p:pic>
      <p:pic>
        <p:nvPicPr>
          <p:cNvPr id="1036" name="Picture 12" descr="GPT-4 as A Content Creator ...">
            <a:extLst>
              <a:ext uri="{FF2B5EF4-FFF2-40B4-BE49-F238E27FC236}">
                <a16:creationId xmlns:a16="http://schemas.microsoft.com/office/drawing/2014/main" id="{60B1FDBC-2D63-87CD-68D6-7B6CDF999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7767" y="20559923"/>
            <a:ext cx="2131083" cy="152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cikit-learn - Wikipedia">
            <a:extLst>
              <a:ext uri="{FF2B5EF4-FFF2-40B4-BE49-F238E27FC236}">
                <a16:creationId xmlns:a16="http://schemas.microsoft.com/office/drawing/2014/main" id="{03C5E7E5-A83E-33E3-0CB1-C7C3DB52E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6572" y="20682871"/>
            <a:ext cx="2083415" cy="112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06944F-8420-9960-4184-2B1E2B7296ED}"/>
              </a:ext>
            </a:extLst>
          </p:cNvPr>
          <p:cNvSpPr txBox="1"/>
          <p:nvPr/>
        </p:nvSpPr>
        <p:spPr>
          <a:xfrm>
            <a:off x="10200564" y="12740635"/>
            <a:ext cx="9500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PyDub</a:t>
            </a:r>
            <a:r>
              <a:rPr lang="en-US" sz="2400" dirty="0"/>
              <a:t>: Audio playback and manipulation.</a:t>
            </a:r>
          </a:p>
          <a:p>
            <a:r>
              <a:rPr lang="en-US" sz="2400" dirty="0"/>
              <a:t>2. </a:t>
            </a:r>
            <a:r>
              <a:rPr lang="en-US" sz="2400" dirty="0" err="1"/>
              <a:t>Spleeter</a:t>
            </a:r>
            <a:r>
              <a:rPr lang="en-US" sz="2400" dirty="0"/>
              <a:t>: Stem separator (bass, drums, vocals, instruments).</a:t>
            </a:r>
          </a:p>
          <a:p>
            <a:r>
              <a:rPr lang="en-US" sz="2400" dirty="0"/>
              <a:t>3. </a:t>
            </a:r>
            <a:r>
              <a:rPr lang="en-US" sz="2400" dirty="0" err="1"/>
              <a:t>sounddevice</a:t>
            </a:r>
            <a:r>
              <a:rPr lang="en-US" sz="2400" dirty="0"/>
              <a:t>: real-time audio playback.</a:t>
            </a:r>
          </a:p>
          <a:p>
            <a:r>
              <a:rPr lang="en-US" sz="2400" dirty="0"/>
              <a:t>4. </a:t>
            </a:r>
            <a:r>
              <a:rPr lang="en-US" sz="2400" dirty="0" err="1"/>
              <a:t>Ffmpeg</a:t>
            </a:r>
            <a:r>
              <a:rPr lang="en-US" sz="2400" dirty="0"/>
              <a:t>: Reliable open-source media used for converting, audio decoding, and saving files.</a:t>
            </a:r>
          </a:p>
          <a:p>
            <a:r>
              <a:rPr lang="en-US" sz="2400" dirty="0"/>
              <a:t>5. Pycharm: A program developed by JetBrains; an integrated development environment (IDE) created for Python development.</a:t>
            </a:r>
          </a:p>
          <a:p>
            <a:r>
              <a:rPr lang="en-US" sz="2400" dirty="0"/>
              <a:t>6. TensorFlow: Used for machine learning development.</a:t>
            </a:r>
          </a:p>
          <a:p>
            <a:r>
              <a:rPr lang="en-US" sz="2400" dirty="0"/>
              <a:t>7. Python: All the codes and models are written in Python as it’s widely used in machine learning and deep learning due to its simplicity.</a:t>
            </a:r>
          </a:p>
          <a:p>
            <a:r>
              <a:rPr lang="en-US" sz="2400" dirty="0"/>
              <a:t>8. GPT 3.5: A natural language processing and chatbot functionalities.</a:t>
            </a:r>
          </a:p>
          <a:p>
            <a:r>
              <a:rPr lang="en-US" sz="2400" dirty="0"/>
              <a:t>9.Scikit-learning: Contains efficient tools for machine learning such as regression.</a:t>
            </a:r>
          </a:p>
        </p:txBody>
      </p:sp>
      <p:pic>
        <p:nvPicPr>
          <p:cNvPr id="9" name="Picture 8" descr="A blue sound wave&#10;&#10;AI-generated content may be incorrect.">
            <a:extLst>
              <a:ext uri="{FF2B5EF4-FFF2-40B4-BE49-F238E27FC236}">
                <a16:creationId xmlns:a16="http://schemas.microsoft.com/office/drawing/2014/main" id="{E0AAEBA5-CEF1-EC8D-BA32-86CC2D2148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5645" y="25082876"/>
            <a:ext cx="9361688" cy="2690447"/>
          </a:xfrm>
          <a:prstGeom prst="rect">
            <a:avLst/>
          </a:prstGeom>
        </p:spPr>
      </p:pic>
      <p:pic>
        <p:nvPicPr>
          <p:cNvPr id="11" name="Picture 10" descr="A close-up of a infrared image&#10;&#10;AI-generated content may be incorrect.">
            <a:extLst>
              <a:ext uri="{FF2B5EF4-FFF2-40B4-BE49-F238E27FC236}">
                <a16:creationId xmlns:a16="http://schemas.microsoft.com/office/drawing/2014/main" id="{F40EF476-DC5C-AFFB-5711-FFAAB5462F6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6289" y="28366052"/>
            <a:ext cx="9500400" cy="3295069"/>
          </a:xfrm>
          <a:prstGeom prst="rect">
            <a:avLst/>
          </a:prstGeom>
        </p:spPr>
      </p:pic>
      <p:pic>
        <p:nvPicPr>
          <p:cNvPr id="13" name="Picture 12" descr="A close-up of a colorful pattern&#10;&#10;AI-generated content may be incorrect.">
            <a:extLst>
              <a:ext uri="{FF2B5EF4-FFF2-40B4-BE49-F238E27FC236}">
                <a16:creationId xmlns:a16="http://schemas.microsoft.com/office/drawing/2014/main" id="{E9809841-4D9F-5772-093A-43BCD85D201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7784" y="32152154"/>
            <a:ext cx="9145452" cy="3639286"/>
          </a:xfrm>
          <a:prstGeom prst="rect">
            <a:avLst/>
          </a:prstGeom>
        </p:spPr>
      </p:pic>
      <p:pic>
        <p:nvPicPr>
          <p:cNvPr id="21" name="Picture 20" descr="A diagram of a computer flowchart">
            <a:extLst>
              <a:ext uri="{FF2B5EF4-FFF2-40B4-BE49-F238E27FC236}">
                <a16:creationId xmlns:a16="http://schemas.microsoft.com/office/drawing/2014/main" id="{6DA3A77F-7536-D498-3576-2BFB16334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04987" y="4117499"/>
            <a:ext cx="19906695" cy="636874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FD1DE2A-2BF7-7251-589A-B9ECCE53255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90800" y="36414229"/>
            <a:ext cx="6774983" cy="29114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0EF9548-2A4D-883D-A107-9478B10B2CF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47861" y="36222961"/>
            <a:ext cx="4907827" cy="13197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AC24CE-E144-0FBC-5600-E6E73E38F70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428103" y="18856623"/>
            <a:ext cx="6818321" cy="454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64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1031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 Black</vt:lpstr>
      <vt:lpstr>Arial</vt:lpstr>
      <vt:lpstr>Calibri</vt:lpstr>
      <vt:lpstr>-apple-system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￥</dc:creator>
  <cp:lastModifiedBy>Youssef Abdelmonem</cp:lastModifiedBy>
  <cp:revision>11</cp:revision>
  <dcterms:modified xsi:type="dcterms:W3CDTF">2025-04-08T19:45:25Z</dcterms:modified>
</cp:coreProperties>
</file>